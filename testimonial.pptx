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18288000" cy="10287000"/>
  <p:notesSz cx="6858000" cy="9144000"/>
  <p:embeddedFontLst>
    <p:embeddedFont>
      <p:font typeface="Arial Bold" panose="020B0704020202020204" pitchFamily="34" charset="0"/>
      <p:regular r:id="rId4"/>
      <p:bold r:id="rId5"/>
    </p:embeddedFont>
    <p:embeddedFont>
      <p:font typeface="Canva Sans" panose="020B0604020202020204" charset="0"/>
      <p:regular r:id="rId6"/>
    </p:embeddedFont>
    <p:embeddedFont>
      <p:font typeface="Canva Sans Bold"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96"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22115" y="1663975"/>
            <a:ext cx="5843770" cy="997214"/>
            <a:chOff x="0" y="0"/>
            <a:chExt cx="7791694" cy="1329618"/>
          </a:xfrm>
        </p:grpSpPr>
        <p:sp>
          <p:nvSpPr>
            <p:cNvPr id="3" name="Freeform 3"/>
            <p:cNvSpPr/>
            <p:nvPr/>
          </p:nvSpPr>
          <p:spPr>
            <a:xfrm>
              <a:off x="0" y="0"/>
              <a:ext cx="7791704" cy="1329563"/>
            </a:xfrm>
            <a:custGeom>
              <a:avLst/>
              <a:gdLst/>
              <a:ahLst/>
              <a:cxnLst/>
              <a:rect l="l" t="t" r="r" b="b"/>
              <a:pathLst>
                <a:path w="7791704" h="1329563">
                  <a:moveTo>
                    <a:pt x="0" y="587375"/>
                  </a:moveTo>
                  <a:cubicBezTo>
                    <a:pt x="0" y="263017"/>
                    <a:pt x="263017" y="0"/>
                    <a:pt x="587375" y="0"/>
                  </a:cubicBezTo>
                  <a:lnTo>
                    <a:pt x="7204329" y="0"/>
                  </a:lnTo>
                  <a:cubicBezTo>
                    <a:pt x="7528687" y="0"/>
                    <a:pt x="7791704" y="263017"/>
                    <a:pt x="7791704" y="587375"/>
                  </a:cubicBezTo>
                  <a:lnTo>
                    <a:pt x="7791704" y="742188"/>
                  </a:lnTo>
                  <a:cubicBezTo>
                    <a:pt x="7791704" y="1066546"/>
                    <a:pt x="7528687" y="1329563"/>
                    <a:pt x="7204329" y="1329563"/>
                  </a:cubicBezTo>
                  <a:lnTo>
                    <a:pt x="587375" y="1329563"/>
                  </a:lnTo>
                  <a:cubicBezTo>
                    <a:pt x="263017" y="1329563"/>
                    <a:pt x="0" y="1066673"/>
                    <a:pt x="0" y="742188"/>
                  </a:cubicBezTo>
                  <a:close/>
                </a:path>
              </a:pathLst>
            </a:custGeom>
            <a:solidFill>
              <a:srgbClr val="233666"/>
            </a:solidFill>
          </p:spPr>
          <p:txBody>
            <a:bodyPr/>
            <a:lstStyle/>
            <a:p>
              <a:endParaRPr lang="en-IN"/>
            </a:p>
          </p:txBody>
        </p:sp>
        <p:sp>
          <p:nvSpPr>
            <p:cNvPr id="4" name="TextBox 4"/>
            <p:cNvSpPr txBox="1"/>
            <p:nvPr/>
          </p:nvSpPr>
          <p:spPr>
            <a:xfrm>
              <a:off x="0" y="-47625"/>
              <a:ext cx="7791694" cy="1377243"/>
            </a:xfrm>
            <a:prstGeom prst="rect">
              <a:avLst/>
            </a:prstGeom>
          </p:spPr>
          <p:txBody>
            <a:bodyPr lIns="50800" tIns="50800" rIns="50800" bIns="50800" rtlCol="0" anchor="ctr"/>
            <a:lstStyle/>
            <a:p>
              <a:pPr algn="ctr">
                <a:lnSpc>
                  <a:spcPts val="2879"/>
                </a:lnSpc>
              </a:pPr>
              <a:r>
                <a:rPr lang="en-US" sz="2400" dirty="0">
                  <a:solidFill>
                    <a:srgbClr val="FFFFFF"/>
                  </a:solidFill>
                  <a:latin typeface="Arial Bold"/>
                  <a:ea typeface="Arial Bold"/>
                  <a:cs typeface="Arial Bold"/>
                  <a:sym typeface="Arial Bold"/>
                </a:rPr>
                <a:t>AI OBJECT DETECTION</a:t>
              </a:r>
            </a:p>
          </p:txBody>
        </p:sp>
      </p:grpSp>
      <p:sp>
        <p:nvSpPr>
          <p:cNvPr id="5" name="Freeform 5"/>
          <p:cNvSpPr/>
          <p:nvPr/>
        </p:nvSpPr>
        <p:spPr>
          <a:xfrm rot="-5400000" flipH="1">
            <a:off x="-1718053" y="3211704"/>
            <a:ext cx="9303265" cy="4343675"/>
          </a:xfrm>
          <a:custGeom>
            <a:avLst/>
            <a:gdLst/>
            <a:ahLst/>
            <a:cxnLst/>
            <a:rect l="l" t="t" r="r" b="b"/>
            <a:pathLst>
              <a:path w="9303265" h="4343675">
                <a:moveTo>
                  <a:pt x="9303265" y="0"/>
                </a:moveTo>
                <a:lnTo>
                  <a:pt x="0" y="0"/>
                </a:lnTo>
                <a:lnTo>
                  <a:pt x="0" y="4343675"/>
                </a:lnTo>
                <a:lnTo>
                  <a:pt x="9303265" y="4343675"/>
                </a:lnTo>
                <a:lnTo>
                  <a:pt x="9303265" y="0"/>
                </a:lnTo>
                <a:close/>
              </a:path>
            </a:pathLst>
          </a:custGeom>
          <a:blipFill>
            <a:blip r:embed="rId3">
              <a:extLst>
                <a:ext uri="{96DAC541-7B7A-43D3-8B79-37D633B846F1}">
                  <asvg:svgBlip xmlns:asvg="http://schemas.microsoft.com/office/drawing/2016/SVG/main" r:embed="rId4"/>
                </a:ext>
              </a:extLst>
            </a:blip>
            <a:stretch>
              <a:fillRect l="-1389" r="-1389"/>
            </a:stretch>
          </a:blipFill>
        </p:spPr>
        <p:txBody>
          <a:bodyPr/>
          <a:lstStyle/>
          <a:p>
            <a:endParaRPr lang="en-IN"/>
          </a:p>
        </p:txBody>
      </p:sp>
      <p:sp>
        <p:nvSpPr>
          <p:cNvPr id="6" name="Freeform 6" descr="A blue and red text on a black background  Description automatically generated"/>
          <p:cNvSpPr/>
          <p:nvPr/>
        </p:nvSpPr>
        <p:spPr>
          <a:xfrm>
            <a:off x="7482598" y="489867"/>
            <a:ext cx="3322804" cy="1077666"/>
          </a:xfrm>
          <a:custGeom>
            <a:avLst/>
            <a:gdLst/>
            <a:ahLst/>
            <a:cxnLst/>
            <a:rect l="l" t="t" r="r" b="b"/>
            <a:pathLst>
              <a:path w="3322804" h="1077666">
                <a:moveTo>
                  <a:pt x="0" y="0"/>
                </a:moveTo>
                <a:lnTo>
                  <a:pt x="3322804" y="0"/>
                </a:lnTo>
                <a:lnTo>
                  <a:pt x="3322804" y="1077666"/>
                </a:lnTo>
                <a:lnTo>
                  <a:pt x="0" y="1077666"/>
                </a:lnTo>
                <a:lnTo>
                  <a:pt x="0" y="0"/>
                </a:lnTo>
                <a:close/>
              </a:path>
            </a:pathLst>
          </a:custGeom>
          <a:blipFill>
            <a:blip r:embed="rId5"/>
            <a:stretch>
              <a:fillRect l="-88" r="-88"/>
            </a:stretch>
          </a:blipFill>
        </p:spPr>
        <p:txBody>
          <a:bodyPr/>
          <a:lstStyle/>
          <a:p>
            <a:endParaRPr lang="en-IN"/>
          </a:p>
        </p:txBody>
      </p:sp>
      <p:grpSp>
        <p:nvGrpSpPr>
          <p:cNvPr id="12" name="Group 12"/>
          <p:cNvGrpSpPr/>
          <p:nvPr/>
        </p:nvGrpSpPr>
        <p:grpSpPr>
          <a:xfrm>
            <a:off x="141278" y="6202401"/>
            <a:ext cx="4648396" cy="720317"/>
            <a:chOff x="0" y="0"/>
            <a:chExt cx="1224269" cy="189713"/>
          </a:xfrm>
        </p:grpSpPr>
        <p:sp>
          <p:nvSpPr>
            <p:cNvPr id="13" name="Freeform 13"/>
            <p:cNvSpPr/>
            <p:nvPr/>
          </p:nvSpPr>
          <p:spPr>
            <a:xfrm>
              <a:off x="0" y="0"/>
              <a:ext cx="1224269" cy="189713"/>
            </a:xfrm>
            <a:custGeom>
              <a:avLst/>
              <a:gdLst/>
              <a:ahLst/>
              <a:cxnLst/>
              <a:rect l="l" t="t" r="r" b="b"/>
              <a:pathLst>
                <a:path w="1224269" h="189713">
                  <a:moveTo>
                    <a:pt x="84941" y="0"/>
                  </a:moveTo>
                  <a:lnTo>
                    <a:pt x="1139328" y="0"/>
                  </a:lnTo>
                  <a:cubicBezTo>
                    <a:pt x="1186240" y="0"/>
                    <a:pt x="1224269" y="38029"/>
                    <a:pt x="1224269" y="84941"/>
                  </a:cubicBezTo>
                  <a:lnTo>
                    <a:pt x="1224269" y="104772"/>
                  </a:lnTo>
                  <a:cubicBezTo>
                    <a:pt x="1224269" y="151684"/>
                    <a:pt x="1186240" y="189713"/>
                    <a:pt x="1139328" y="189713"/>
                  </a:cubicBezTo>
                  <a:lnTo>
                    <a:pt x="84941" y="189713"/>
                  </a:lnTo>
                  <a:cubicBezTo>
                    <a:pt x="38029" y="189713"/>
                    <a:pt x="0" y="151684"/>
                    <a:pt x="0" y="104772"/>
                  </a:cubicBezTo>
                  <a:lnTo>
                    <a:pt x="0" y="84941"/>
                  </a:lnTo>
                  <a:cubicBezTo>
                    <a:pt x="0" y="38029"/>
                    <a:pt x="38029" y="0"/>
                    <a:pt x="84941" y="0"/>
                  </a:cubicBezTo>
                  <a:close/>
                </a:path>
              </a:pathLst>
            </a:custGeom>
            <a:solidFill>
              <a:srgbClr val="2D7FCF"/>
            </a:solidFill>
          </p:spPr>
          <p:txBody>
            <a:bodyPr/>
            <a:lstStyle/>
            <a:p>
              <a:endParaRPr lang="en-IN"/>
            </a:p>
          </p:txBody>
        </p:sp>
        <p:sp>
          <p:nvSpPr>
            <p:cNvPr id="14" name="TextBox 14"/>
            <p:cNvSpPr txBox="1"/>
            <p:nvPr/>
          </p:nvSpPr>
          <p:spPr>
            <a:xfrm>
              <a:off x="0" y="-47625"/>
              <a:ext cx="1224269" cy="237338"/>
            </a:xfrm>
            <a:prstGeom prst="rect">
              <a:avLst/>
            </a:prstGeom>
          </p:spPr>
          <p:txBody>
            <a:bodyPr lIns="50800" tIns="50800" rIns="50800" bIns="50800" rtlCol="0" anchor="ctr"/>
            <a:lstStyle/>
            <a:p>
              <a:pPr algn="ctr">
                <a:lnSpc>
                  <a:spcPts val="2879"/>
                </a:lnSpc>
              </a:pPr>
              <a:endParaRPr/>
            </a:p>
          </p:txBody>
        </p:sp>
      </p:grpSp>
      <p:grpSp>
        <p:nvGrpSpPr>
          <p:cNvPr id="15" name="Group 15"/>
          <p:cNvGrpSpPr/>
          <p:nvPr/>
        </p:nvGrpSpPr>
        <p:grpSpPr>
          <a:xfrm>
            <a:off x="141278" y="7017968"/>
            <a:ext cx="4648396" cy="720317"/>
            <a:chOff x="0" y="0"/>
            <a:chExt cx="1224269" cy="189713"/>
          </a:xfrm>
        </p:grpSpPr>
        <p:sp>
          <p:nvSpPr>
            <p:cNvPr id="16" name="Freeform 16"/>
            <p:cNvSpPr/>
            <p:nvPr/>
          </p:nvSpPr>
          <p:spPr>
            <a:xfrm>
              <a:off x="0" y="0"/>
              <a:ext cx="1224269" cy="189713"/>
            </a:xfrm>
            <a:custGeom>
              <a:avLst/>
              <a:gdLst/>
              <a:ahLst/>
              <a:cxnLst/>
              <a:rect l="l" t="t" r="r" b="b"/>
              <a:pathLst>
                <a:path w="1224269" h="189713">
                  <a:moveTo>
                    <a:pt x="84941" y="0"/>
                  </a:moveTo>
                  <a:lnTo>
                    <a:pt x="1139328" y="0"/>
                  </a:lnTo>
                  <a:cubicBezTo>
                    <a:pt x="1186240" y="0"/>
                    <a:pt x="1224269" y="38029"/>
                    <a:pt x="1224269" y="84941"/>
                  </a:cubicBezTo>
                  <a:lnTo>
                    <a:pt x="1224269" y="104772"/>
                  </a:lnTo>
                  <a:cubicBezTo>
                    <a:pt x="1224269" y="151684"/>
                    <a:pt x="1186240" y="189713"/>
                    <a:pt x="1139328" y="189713"/>
                  </a:cubicBezTo>
                  <a:lnTo>
                    <a:pt x="84941" y="189713"/>
                  </a:lnTo>
                  <a:cubicBezTo>
                    <a:pt x="38029" y="189713"/>
                    <a:pt x="0" y="151684"/>
                    <a:pt x="0" y="104772"/>
                  </a:cubicBezTo>
                  <a:lnTo>
                    <a:pt x="0" y="84941"/>
                  </a:lnTo>
                  <a:cubicBezTo>
                    <a:pt x="0" y="38029"/>
                    <a:pt x="38029" y="0"/>
                    <a:pt x="84941" y="0"/>
                  </a:cubicBezTo>
                  <a:close/>
                </a:path>
              </a:pathLst>
            </a:custGeom>
            <a:solidFill>
              <a:srgbClr val="2462A8"/>
            </a:solidFill>
          </p:spPr>
          <p:txBody>
            <a:bodyPr/>
            <a:lstStyle/>
            <a:p>
              <a:endParaRPr lang="en-IN"/>
            </a:p>
          </p:txBody>
        </p:sp>
        <p:sp>
          <p:nvSpPr>
            <p:cNvPr id="17" name="TextBox 17"/>
            <p:cNvSpPr txBox="1"/>
            <p:nvPr/>
          </p:nvSpPr>
          <p:spPr>
            <a:xfrm>
              <a:off x="0" y="-47625"/>
              <a:ext cx="1224269" cy="237338"/>
            </a:xfrm>
            <a:prstGeom prst="rect">
              <a:avLst/>
            </a:prstGeom>
          </p:spPr>
          <p:txBody>
            <a:bodyPr lIns="50800" tIns="50800" rIns="50800" bIns="50800" rtlCol="0" anchor="ctr"/>
            <a:lstStyle/>
            <a:p>
              <a:pPr algn="ctr">
                <a:lnSpc>
                  <a:spcPts val="2879"/>
                </a:lnSpc>
              </a:pPr>
              <a:endParaRPr/>
            </a:p>
          </p:txBody>
        </p:sp>
      </p:grpSp>
      <p:grpSp>
        <p:nvGrpSpPr>
          <p:cNvPr id="18" name="Group 18"/>
          <p:cNvGrpSpPr/>
          <p:nvPr/>
        </p:nvGrpSpPr>
        <p:grpSpPr>
          <a:xfrm>
            <a:off x="191944" y="7894150"/>
            <a:ext cx="4648396" cy="1794197"/>
            <a:chOff x="0" y="0"/>
            <a:chExt cx="1224269" cy="472546"/>
          </a:xfrm>
        </p:grpSpPr>
        <p:sp>
          <p:nvSpPr>
            <p:cNvPr id="19" name="Freeform 19"/>
            <p:cNvSpPr/>
            <p:nvPr/>
          </p:nvSpPr>
          <p:spPr>
            <a:xfrm>
              <a:off x="0" y="0"/>
              <a:ext cx="1224269" cy="472546"/>
            </a:xfrm>
            <a:custGeom>
              <a:avLst/>
              <a:gdLst/>
              <a:ahLst/>
              <a:cxnLst/>
              <a:rect l="l" t="t" r="r" b="b"/>
              <a:pathLst>
                <a:path w="1224269" h="472546">
                  <a:moveTo>
                    <a:pt x="84941" y="0"/>
                  </a:moveTo>
                  <a:lnTo>
                    <a:pt x="1139328" y="0"/>
                  </a:lnTo>
                  <a:cubicBezTo>
                    <a:pt x="1186240" y="0"/>
                    <a:pt x="1224269" y="38029"/>
                    <a:pt x="1224269" y="84941"/>
                  </a:cubicBezTo>
                  <a:lnTo>
                    <a:pt x="1224269" y="387605"/>
                  </a:lnTo>
                  <a:cubicBezTo>
                    <a:pt x="1224269" y="434517"/>
                    <a:pt x="1186240" y="472546"/>
                    <a:pt x="1139328" y="472546"/>
                  </a:cubicBezTo>
                  <a:lnTo>
                    <a:pt x="84941" y="472546"/>
                  </a:lnTo>
                  <a:cubicBezTo>
                    <a:pt x="62413" y="472546"/>
                    <a:pt x="40808" y="463597"/>
                    <a:pt x="24879" y="447667"/>
                  </a:cubicBezTo>
                  <a:cubicBezTo>
                    <a:pt x="8949" y="431738"/>
                    <a:pt x="0" y="410133"/>
                    <a:pt x="0" y="387605"/>
                  </a:cubicBezTo>
                  <a:lnTo>
                    <a:pt x="0" y="84941"/>
                  </a:lnTo>
                  <a:cubicBezTo>
                    <a:pt x="0" y="38029"/>
                    <a:pt x="38029" y="0"/>
                    <a:pt x="84941" y="0"/>
                  </a:cubicBezTo>
                  <a:close/>
                </a:path>
              </a:pathLst>
            </a:custGeom>
            <a:solidFill>
              <a:srgbClr val="1C4D84"/>
            </a:solidFill>
          </p:spPr>
          <p:txBody>
            <a:bodyPr/>
            <a:lstStyle/>
            <a:p>
              <a:endParaRPr lang="en-IN" dirty="0"/>
            </a:p>
          </p:txBody>
        </p:sp>
        <p:sp>
          <p:nvSpPr>
            <p:cNvPr id="20" name="TextBox 20"/>
            <p:cNvSpPr txBox="1"/>
            <p:nvPr/>
          </p:nvSpPr>
          <p:spPr>
            <a:xfrm>
              <a:off x="0" y="-47625"/>
              <a:ext cx="1224269" cy="520171"/>
            </a:xfrm>
            <a:prstGeom prst="rect">
              <a:avLst/>
            </a:prstGeom>
          </p:spPr>
          <p:txBody>
            <a:bodyPr lIns="50800" tIns="50800" rIns="50800" bIns="50800" rtlCol="0" anchor="ctr"/>
            <a:lstStyle/>
            <a:p>
              <a:pPr algn="ctr">
                <a:lnSpc>
                  <a:spcPts val="2879"/>
                </a:lnSpc>
              </a:pPr>
              <a:endParaRPr/>
            </a:p>
          </p:txBody>
        </p:sp>
      </p:grpSp>
      <p:sp>
        <p:nvSpPr>
          <p:cNvPr id="27" name="TextBox 27"/>
          <p:cNvSpPr txBox="1"/>
          <p:nvPr/>
        </p:nvSpPr>
        <p:spPr>
          <a:xfrm>
            <a:off x="970800" y="6312305"/>
            <a:ext cx="3204655" cy="455317"/>
          </a:xfrm>
          <a:prstGeom prst="rect">
            <a:avLst/>
          </a:prstGeom>
        </p:spPr>
        <p:txBody>
          <a:bodyPr wrap="square" lIns="0" tIns="0" rIns="0" bIns="0" rtlCol="0" anchor="t">
            <a:spAutoFit/>
          </a:bodyPr>
          <a:lstStyle/>
          <a:p>
            <a:pPr algn="ctr">
              <a:lnSpc>
                <a:spcPts val="3798"/>
              </a:lnSpc>
            </a:pPr>
            <a:r>
              <a:rPr lang="en-US" sz="2713" dirty="0">
                <a:solidFill>
                  <a:srgbClr val="FFFFFF"/>
                </a:solidFill>
                <a:latin typeface="Canva Sans Bold"/>
                <a:ea typeface="Canva Sans Bold"/>
                <a:cs typeface="Canva Sans Bold"/>
                <a:sym typeface="Canva Sans Bold"/>
              </a:rPr>
              <a:t>Abhoy Sinha</a:t>
            </a:r>
          </a:p>
        </p:txBody>
      </p:sp>
      <p:sp>
        <p:nvSpPr>
          <p:cNvPr id="28" name="TextBox 28"/>
          <p:cNvSpPr txBox="1"/>
          <p:nvPr/>
        </p:nvSpPr>
        <p:spPr>
          <a:xfrm>
            <a:off x="438810" y="7179860"/>
            <a:ext cx="4053334" cy="348909"/>
          </a:xfrm>
          <a:prstGeom prst="rect">
            <a:avLst/>
          </a:prstGeom>
        </p:spPr>
        <p:txBody>
          <a:bodyPr lIns="0" tIns="0" rIns="0" bIns="0" rtlCol="0" anchor="t">
            <a:spAutoFit/>
          </a:bodyPr>
          <a:lstStyle/>
          <a:p>
            <a:pPr algn="ctr">
              <a:lnSpc>
                <a:spcPts val="2818"/>
              </a:lnSpc>
            </a:pPr>
            <a:r>
              <a:rPr lang="en-US" sz="2013" dirty="0">
                <a:solidFill>
                  <a:srgbClr val="FFFFFF"/>
                </a:solidFill>
                <a:latin typeface="Canva Sans Bold"/>
                <a:ea typeface="Canva Sans Bold"/>
                <a:cs typeface="Canva Sans Bold"/>
                <a:sym typeface="Canva Sans Bold"/>
              </a:rPr>
              <a:t>abhoysinhalive@gmail.com</a:t>
            </a:r>
          </a:p>
        </p:txBody>
      </p:sp>
      <p:sp>
        <p:nvSpPr>
          <p:cNvPr id="29" name="TextBox 29"/>
          <p:cNvSpPr txBox="1"/>
          <p:nvPr/>
        </p:nvSpPr>
        <p:spPr>
          <a:xfrm>
            <a:off x="438810" y="8075975"/>
            <a:ext cx="4268636" cy="1204689"/>
          </a:xfrm>
          <a:prstGeom prst="rect">
            <a:avLst/>
          </a:prstGeom>
        </p:spPr>
        <p:txBody>
          <a:bodyPr wrap="square" lIns="0" tIns="0" rIns="0" bIns="0" rtlCol="0" anchor="t">
            <a:spAutoFit/>
          </a:bodyPr>
          <a:lstStyle/>
          <a:p>
            <a:pPr algn="ctr">
              <a:lnSpc>
                <a:spcPts val="3220"/>
              </a:lnSpc>
            </a:pPr>
            <a:r>
              <a:rPr lang="en-US" sz="2300" dirty="0">
                <a:solidFill>
                  <a:srgbClr val="FFFFFF"/>
                </a:solidFill>
                <a:latin typeface="Canva Sans Bold"/>
                <a:ea typeface="Canva Sans Bold"/>
                <a:cs typeface="Canva Sans Bold"/>
                <a:sym typeface="Canva Sans Bold"/>
              </a:rPr>
              <a:t>School of Technology,</a:t>
            </a:r>
          </a:p>
          <a:p>
            <a:pPr algn="ctr">
              <a:lnSpc>
                <a:spcPts val="3220"/>
              </a:lnSpc>
            </a:pPr>
            <a:r>
              <a:rPr lang="en-US" sz="2300" dirty="0">
                <a:solidFill>
                  <a:srgbClr val="FFFFFF"/>
                </a:solidFill>
                <a:latin typeface="Canva Sans Bold"/>
                <a:ea typeface="Canva Sans Bold"/>
                <a:cs typeface="Canva Sans Bold"/>
                <a:sym typeface="Canva Sans Bold"/>
              </a:rPr>
              <a:t>North Eastern Hill University, Shillong</a:t>
            </a:r>
          </a:p>
        </p:txBody>
      </p:sp>
      <p:sp>
        <p:nvSpPr>
          <p:cNvPr id="30" name="TextBox 30"/>
          <p:cNvSpPr txBox="1"/>
          <p:nvPr/>
        </p:nvSpPr>
        <p:spPr>
          <a:xfrm>
            <a:off x="14948854" y="9438275"/>
            <a:ext cx="2900336" cy="596899"/>
          </a:xfrm>
          <a:prstGeom prst="rect">
            <a:avLst/>
          </a:prstGeom>
        </p:spPr>
        <p:txBody>
          <a:bodyPr lIns="0" tIns="0" rIns="0" bIns="0" rtlCol="0" anchor="t">
            <a:spAutoFit/>
          </a:bodyPr>
          <a:lstStyle/>
          <a:p>
            <a:pPr algn="ctr">
              <a:lnSpc>
                <a:spcPts val="4900"/>
              </a:lnSpc>
            </a:pPr>
            <a:r>
              <a:rPr lang="en-US" sz="3500" dirty="0">
                <a:solidFill>
                  <a:srgbClr val="000000"/>
                </a:solidFill>
                <a:latin typeface="Canva Sans Bold"/>
                <a:ea typeface="Canva Sans Bold"/>
                <a:cs typeface="Canva Sans Bold"/>
                <a:sym typeface="Canva Sans Bold"/>
              </a:rPr>
              <a:t>#skillsbuild</a:t>
            </a:r>
          </a:p>
        </p:txBody>
      </p:sp>
      <p:sp>
        <p:nvSpPr>
          <p:cNvPr id="31" name="TextBox 31"/>
          <p:cNvSpPr txBox="1"/>
          <p:nvPr/>
        </p:nvSpPr>
        <p:spPr>
          <a:xfrm>
            <a:off x="7580263" y="2721912"/>
            <a:ext cx="3127474" cy="464820"/>
          </a:xfrm>
          <a:prstGeom prst="rect">
            <a:avLst/>
          </a:prstGeom>
        </p:spPr>
        <p:txBody>
          <a:bodyPr lIns="0" tIns="0" rIns="0" bIns="0" rtlCol="0" anchor="t">
            <a:spAutoFit/>
          </a:bodyPr>
          <a:lstStyle/>
          <a:p>
            <a:pPr algn="ctr">
              <a:lnSpc>
                <a:spcPts val="3779"/>
              </a:lnSpc>
            </a:pPr>
            <a:r>
              <a:rPr lang="en-US" sz="2700" dirty="0">
                <a:solidFill>
                  <a:srgbClr val="243666"/>
                </a:solidFill>
                <a:latin typeface="Canva Sans Bold"/>
                <a:ea typeface="Canva Sans Bold"/>
                <a:cs typeface="Canva Sans Bold"/>
                <a:sym typeface="Canva Sans Bold"/>
              </a:rPr>
              <a:t>Program Feedback</a:t>
            </a:r>
          </a:p>
        </p:txBody>
      </p:sp>
      <p:sp>
        <p:nvSpPr>
          <p:cNvPr id="32" name="TextBox 32"/>
          <p:cNvSpPr txBox="1"/>
          <p:nvPr/>
        </p:nvSpPr>
        <p:spPr>
          <a:xfrm>
            <a:off x="14016625" y="1247784"/>
            <a:ext cx="2898874" cy="464820"/>
          </a:xfrm>
          <a:prstGeom prst="rect">
            <a:avLst/>
          </a:prstGeom>
        </p:spPr>
        <p:txBody>
          <a:bodyPr lIns="0" tIns="0" rIns="0" bIns="0" rtlCol="0" anchor="t">
            <a:spAutoFit/>
          </a:bodyPr>
          <a:lstStyle/>
          <a:p>
            <a:pPr algn="ctr">
              <a:lnSpc>
                <a:spcPts val="3779"/>
              </a:lnSpc>
            </a:pPr>
            <a:r>
              <a:rPr lang="en-US" sz="2700" dirty="0">
                <a:solidFill>
                  <a:srgbClr val="243666"/>
                </a:solidFill>
                <a:latin typeface="Canva Sans Bold"/>
                <a:ea typeface="Canva Sans Bold"/>
                <a:cs typeface="Canva Sans Bold"/>
                <a:sym typeface="Canva Sans Bold"/>
              </a:rPr>
              <a:t>Project Summary</a:t>
            </a:r>
          </a:p>
        </p:txBody>
      </p:sp>
      <p:sp>
        <p:nvSpPr>
          <p:cNvPr id="33" name="TextBox 33"/>
          <p:cNvSpPr txBox="1"/>
          <p:nvPr/>
        </p:nvSpPr>
        <p:spPr>
          <a:xfrm>
            <a:off x="9583184" y="5867083"/>
            <a:ext cx="4433441" cy="464820"/>
          </a:xfrm>
          <a:prstGeom prst="rect">
            <a:avLst/>
          </a:prstGeom>
        </p:spPr>
        <p:txBody>
          <a:bodyPr lIns="0" tIns="0" rIns="0" bIns="0" rtlCol="0" anchor="t">
            <a:spAutoFit/>
          </a:bodyPr>
          <a:lstStyle/>
          <a:p>
            <a:pPr algn="ctr">
              <a:lnSpc>
                <a:spcPts val="3779"/>
              </a:lnSpc>
            </a:pPr>
            <a:r>
              <a:rPr lang="en-US" sz="2700" dirty="0">
                <a:solidFill>
                  <a:srgbClr val="243666"/>
                </a:solidFill>
                <a:latin typeface="Canva Sans Bold"/>
                <a:ea typeface="Canva Sans Bold"/>
                <a:cs typeface="Canva Sans Bold"/>
                <a:sym typeface="Canva Sans Bold"/>
              </a:rPr>
              <a:t>Final Outcome Screenshot</a:t>
            </a:r>
          </a:p>
        </p:txBody>
      </p:sp>
      <p:sp>
        <p:nvSpPr>
          <p:cNvPr id="34" name="TextBox 34"/>
          <p:cNvSpPr txBox="1"/>
          <p:nvPr/>
        </p:nvSpPr>
        <p:spPr>
          <a:xfrm>
            <a:off x="5595020" y="3144731"/>
            <a:ext cx="6460593" cy="2850204"/>
          </a:xfrm>
          <a:prstGeom prst="rect">
            <a:avLst/>
          </a:prstGeom>
        </p:spPr>
        <p:txBody>
          <a:bodyPr lIns="0" tIns="0" rIns="0" bIns="0" rtlCol="0" anchor="t">
            <a:spAutoFit/>
          </a:bodyPr>
          <a:lstStyle/>
          <a:p>
            <a:pPr algn="just">
              <a:lnSpc>
                <a:spcPts val="2800"/>
              </a:lnSpc>
            </a:pPr>
            <a:r>
              <a:rPr lang="en-US" sz="2000" dirty="0">
                <a:solidFill>
                  <a:schemeClr val="tx2"/>
                </a:solidFill>
              </a:rPr>
              <a:t>The program provided a strong introduction to Artificial Intelligence and Machine Learning concepts. The theoretical sessions helped me understand core ideas, while the practical exercises allowed me to apply them in real projects. Through this internship, I gained hands-on experience in building an AI-based object detection system. I would highly recommend this program to students who want to develop skills in AI, ML, and real-time intelligent applications.</a:t>
            </a:r>
            <a:endParaRPr lang="en-US" sz="2000" dirty="0">
              <a:solidFill>
                <a:schemeClr val="tx2"/>
              </a:solidFill>
              <a:latin typeface="Canva Sans"/>
              <a:ea typeface="Canva Sans"/>
              <a:cs typeface="Canva Sans"/>
              <a:sym typeface="Canva Sans"/>
            </a:endParaRPr>
          </a:p>
        </p:txBody>
      </p:sp>
      <p:sp>
        <p:nvSpPr>
          <p:cNvPr id="35" name="TextBox 35"/>
          <p:cNvSpPr txBox="1"/>
          <p:nvPr/>
        </p:nvSpPr>
        <p:spPr>
          <a:xfrm>
            <a:off x="12708789" y="1763137"/>
            <a:ext cx="5316597" cy="4286494"/>
          </a:xfrm>
          <a:prstGeom prst="rect">
            <a:avLst/>
          </a:prstGeom>
        </p:spPr>
        <p:txBody>
          <a:bodyPr lIns="0" tIns="0" rIns="0" bIns="0" rtlCol="0" anchor="t">
            <a:spAutoFit/>
          </a:bodyPr>
          <a:lstStyle/>
          <a:p>
            <a:pPr algn="just">
              <a:lnSpc>
                <a:spcPts val="2800"/>
              </a:lnSpc>
            </a:pPr>
            <a:r>
              <a:rPr lang="en-US" sz="2000" dirty="0"/>
              <a:t>This project presents a real-time AI Object Detection system that identifies and classifies objects using a live camera feed. The system uses a pre-trained machine learning model to detect common objects such as a person, mouse, scissors, and cup, and displays bounding boxes with confidence scores. It runs directly in a web browser, making it lightweight, fast, and accessible without requiring special hardware or software installation. The project demonstrates how AI and computer vision can be used to build intelligent real-time applications for practical use.</a:t>
            </a:r>
            <a:endParaRPr lang="en-US" sz="2000" dirty="0">
              <a:solidFill>
                <a:srgbClr val="233666"/>
              </a:solidFill>
              <a:latin typeface="Canva Sans"/>
              <a:ea typeface="Canva Sans"/>
              <a:cs typeface="Canva Sans"/>
              <a:sym typeface="Canva Sans"/>
            </a:endParaRPr>
          </a:p>
        </p:txBody>
      </p:sp>
      <p:sp>
        <p:nvSpPr>
          <p:cNvPr id="36" name="AutoShape 36"/>
          <p:cNvSpPr/>
          <p:nvPr/>
        </p:nvSpPr>
        <p:spPr>
          <a:xfrm flipV="1">
            <a:off x="12294427" y="2366416"/>
            <a:ext cx="0" cy="3017125"/>
          </a:xfrm>
          <a:prstGeom prst="line">
            <a:avLst/>
          </a:prstGeom>
          <a:ln w="9525" cap="flat">
            <a:solidFill>
              <a:srgbClr val="000000"/>
            </a:solidFill>
            <a:prstDash val="solid"/>
            <a:headEnd type="none" w="sm" len="sm"/>
            <a:tailEnd type="none" w="sm" len="sm"/>
          </a:ln>
        </p:spPr>
        <p:txBody>
          <a:bodyPr/>
          <a:lstStyle/>
          <a:p>
            <a:endParaRPr lang="en-IN"/>
          </a:p>
        </p:txBody>
      </p:sp>
      <p:pic>
        <p:nvPicPr>
          <p:cNvPr id="38" name="Picture 37" descr="A person wearing glasses and a sweater">
            <a:extLst>
              <a:ext uri="{FF2B5EF4-FFF2-40B4-BE49-F238E27FC236}">
                <a16:creationId xmlns:a16="http://schemas.microsoft.com/office/drawing/2014/main" id="{FE00220F-EA19-FA94-DB76-E8CC93A291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2614" y="1573663"/>
            <a:ext cx="4537020" cy="4421272"/>
          </a:xfrm>
          <a:prstGeom prst="rect">
            <a:avLst/>
          </a:prstGeom>
          <a:solidFill>
            <a:schemeClr val="tx2"/>
          </a:solidFill>
          <a:ln w="76200">
            <a:solidFill>
              <a:schemeClr val="tx2"/>
            </a:solidFill>
          </a:ln>
        </p:spPr>
      </p:pic>
      <p:pic>
        <p:nvPicPr>
          <p:cNvPr id="40" name="Picture 39" descr="A computer mouse with a wire&#10;&#10;AI-generated content may be incorrect.">
            <a:extLst>
              <a:ext uri="{FF2B5EF4-FFF2-40B4-BE49-F238E27FC236}">
                <a16:creationId xmlns:a16="http://schemas.microsoft.com/office/drawing/2014/main" id="{9D149889-5F21-C199-03C0-51AA338C53C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60556" y="6417754"/>
            <a:ext cx="3386579" cy="2862910"/>
          </a:xfrm>
          <a:prstGeom prst="rect">
            <a:avLst/>
          </a:prstGeom>
        </p:spPr>
      </p:pic>
      <p:pic>
        <p:nvPicPr>
          <p:cNvPr id="42" name="Picture 41" descr="A screenshot of a cellphone&#10;&#10;AI-generated content may be incorrect.">
            <a:extLst>
              <a:ext uri="{FF2B5EF4-FFF2-40B4-BE49-F238E27FC236}">
                <a16:creationId xmlns:a16="http://schemas.microsoft.com/office/drawing/2014/main" id="{B46D8789-8F93-A23A-1F71-1906E5BEABD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12213" y="6406279"/>
            <a:ext cx="3544732" cy="2889666"/>
          </a:xfrm>
          <a:prstGeom prst="rect">
            <a:avLst/>
          </a:prstGeom>
        </p:spPr>
      </p:pic>
      <p:pic>
        <p:nvPicPr>
          <p:cNvPr id="44" name="Picture 43" descr="A white mug with a red square on it">
            <a:extLst>
              <a:ext uri="{FF2B5EF4-FFF2-40B4-BE49-F238E27FC236}">
                <a16:creationId xmlns:a16="http://schemas.microsoft.com/office/drawing/2014/main" id="{5ED7C816-6207-BC3B-182D-426DC43B9EB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4370217" y="6437498"/>
            <a:ext cx="3478973" cy="284316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203</Words>
  <Application>Microsoft Office PowerPoint</Application>
  <PresentationFormat>Custom</PresentationFormat>
  <Paragraphs>14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 Bold</vt:lpstr>
      <vt:lpstr>Canva Sans Bold</vt:lpstr>
      <vt:lpstr>Canva Sans</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SB4C_Your Name_Testimonial_College Name (2).pptx</dc:title>
  <cp:lastModifiedBy>Abhoy Sinha</cp:lastModifiedBy>
  <cp:revision>2</cp:revision>
  <dcterms:created xsi:type="dcterms:W3CDTF">2006-08-16T00:00:00Z</dcterms:created>
  <dcterms:modified xsi:type="dcterms:W3CDTF">2026-02-22T07:19:22Z</dcterms:modified>
  <dc:identifier>DAGKQwAq7oI</dc:identifier>
</cp:coreProperties>
</file>