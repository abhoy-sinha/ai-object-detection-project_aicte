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8"/>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 id="21468470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67"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oy Sinha" userId="197f3a4ffd8e8f2c" providerId="LiveId" clId="{AF7EAC07-F04D-4A7D-B90F-31CDDA7C7433}"/>
    <pc:docChg chg="undo custSel addSld delSld modSld">
      <pc:chgData name="Abhoy Sinha" userId="197f3a4ffd8e8f2c" providerId="LiveId" clId="{AF7EAC07-F04D-4A7D-B90F-31CDDA7C7433}" dt="2026-02-22T06:36:37.879" v="63" actId="255"/>
      <pc:docMkLst>
        <pc:docMk/>
      </pc:docMkLst>
      <pc:sldChg chg="modSp mod">
        <pc:chgData name="Abhoy Sinha" userId="197f3a4ffd8e8f2c" providerId="LiveId" clId="{AF7EAC07-F04D-4A7D-B90F-31CDDA7C7433}" dt="2026-02-22T06:29:39.709" v="1" actId="20577"/>
        <pc:sldMkLst>
          <pc:docMk/>
          <pc:sldMk cId="953325580" sldId="256"/>
        </pc:sldMkLst>
        <pc:spChg chg="mod">
          <ac:chgData name="Abhoy Sinha" userId="197f3a4ffd8e8f2c" providerId="LiveId" clId="{AF7EAC07-F04D-4A7D-B90F-31CDDA7C7433}" dt="2026-02-22T06:29:39.709" v="1" actId="20577"/>
          <ac:spMkLst>
            <pc:docMk/>
            <pc:sldMk cId="953325580" sldId="256"/>
            <ac:spMk id="4" creationId="{00000000-0000-0000-0000-000000000000}"/>
          </ac:spMkLst>
        </pc:spChg>
      </pc:sldChg>
      <pc:sldChg chg="addSp delSp modSp mod modClrScheme chgLayout">
        <pc:chgData name="Abhoy Sinha" userId="197f3a4ffd8e8f2c" providerId="LiveId" clId="{AF7EAC07-F04D-4A7D-B90F-31CDDA7C7433}" dt="2026-02-22T06:35:56.114" v="48" actId="14100"/>
        <pc:sldMkLst>
          <pc:docMk/>
          <pc:sldMk cId="4066255318" sldId="259"/>
        </pc:sldMkLst>
        <pc:spChg chg="add del mod">
          <ac:chgData name="Abhoy Sinha" userId="197f3a4ffd8e8f2c" providerId="LiveId" clId="{AF7EAC07-F04D-4A7D-B90F-31CDDA7C7433}" dt="2026-02-22T06:31:09.365" v="3" actId="21"/>
          <ac:spMkLst>
            <pc:docMk/>
            <pc:sldMk cId="4066255318" sldId="259"/>
            <ac:spMk id="3" creationId="{EBF85904-42B2-819E-4B4C-F798396B7103}"/>
          </ac:spMkLst>
        </pc:spChg>
        <pc:spChg chg="add del mod">
          <ac:chgData name="Abhoy Sinha" userId="197f3a4ffd8e8f2c" providerId="LiveId" clId="{AF7EAC07-F04D-4A7D-B90F-31CDDA7C7433}" dt="2026-02-22T06:32:20.272" v="24" actId="1076"/>
          <ac:spMkLst>
            <pc:docMk/>
            <pc:sldMk cId="4066255318" sldId="259"/>
            <ac:spMk id="5" creationId="{8BE4CA82-64EC-4D4E-A5E5-3EBB66E7B24C}"/>
          </ac:spMkLst>
        </pc:spChg>
        <pc:picChg chg="add mod">
          <ac:chgData name="Abhoy Sinha" userId="197f3a4ffd8e8f2c" providerId="LiveId" clId="{AF7EAC07-F04D-4A7D-B90F-31CDDA7C7433}" dt="2026-02-22T06:35:42.486" v="43" actId="14100"/>
          <ac:picMkLst>
            <pc:docMk/>
            <pc:sldMk cId="4066255318" sldId="259"/>
            <ac:picMk id="6" creationId="{1321422D-34A0-D20A-7E48-438A1A90AB23}"/>
          </ac:picMkLst>
        </pc:picChg>
        <pc:picChg chg="add mod">
          <ac:chgData name="Abhoy Sinha" userId="197f3a4ffd8e8f2c" providerId="LiveId" clId="{AF7EAC07-F04D-4A7D-B90F-31CDDA7C7433}" dt="2026-02-22T06:35:56.114" v="48" actId="14100"/>
          <ac:picMkLst>
            <pc:docMk/>
            <pc:sldMk cId="4066255318" sldId="259"/>
            <ac:picMk id="8" creationId="{BD321B37-2A37-9353-032A-7C6331BA2F4F}"/>
          </ac:picMkLst>
        </pc:picChg>
      </pc:sldChg>
      <pc:sldChg chg="new del">
        <pc:chgData name="Abhoy Sinha" userId="197f3a4ffd8e8f2c" providerId="LiveId" clId="{AF7EAC07-F04D-4A7D-B90F-31CDDA7C7433}" dt="2026-02-22T06:31:58.463" v="7" actId="680"/>
        <pc:sldMkLst>
          <pc:docMk/>
          <pc:sldMk cId="879828809" sldId="2146847059"/>
        </pc:sldMkLst>
      </pc:sldChg>
      <pc:sldChg chg="modSp new mod">
        <pc:chgData name="Abhoy Sinha" userId="197f3a4ffd8e8f2c" providerId="LiveId" clId="{AF7EAC07-F04D-4A7D-B90F-31CDDA7C7433}" dt="2026-02-22T06:36:37.879" v="63" actId="255"/>
        <pc:sldMkLst>
          <pc:docMk/>
          <pc:sldMk cId="1590229466" sldId="2146847059"/>
        </pc:sldMkLst>
        <pc:spChg chg="mod">
          <ac:chgData name="Abhoy Sinha" userId="197f3a4ffd8e8f2c" providerId="LiveId" clId="{AF7EAC07-F04D-4A7D-B90F-31CDDA7C7433}" dt="2026-02-22T06:36:37.879" v="63" actId="255"/>
          <ac:spMkLst>
            <pc:docMk/>
            <pc:sldMk cId="1590229466" sldId="2146847059"/>
            <ac:spMk id="2" creationId="{79FD58C7-1091-1D84-C904-C17DAEE52B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2/22/2026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2/22/2026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2/22/2026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2/22/2026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2/22/2026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2/22/2026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2/22/2026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2/22/2026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2/22/2026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2/22/2026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2/22/2026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tensorflow.org/" TargetMode="External"/><Relationship Id="rId2" Type="http://schemas.openxmlformats.org/officeDocument/2006/relationships/hyperlink" Target="https://ml5js.org/" TargetMode="External"/><Relationship Id="rId1" Type="http://schemas.openxmlformats.org/officeDocument/2006/relationships/slideLayout" Target="../slideLayouts/slideLayout2.xml"/><Relationship Id="rId6" Type="http://schemas.openxmlformats.org/officeDocument/2006/relationships/hyperlink" Target="https://huggingface.co/" TargetMode="External"/><Relationship Id="rId5" Type="http://schemas.openxmlformats.org/officeDocument/2006/relationships/hyperlink" Target="https://docs.github.com/" TargetMode="External"/><Relationship Id="rId4" Type="http://schemas.openxmlformats.org/officeDocument/2006/relationships/hyperlink" Target="https://developer.mozilla.org/"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abhoy-sinha.github.io/ai-object-detection/" TargetMode="External"/><Relationship Id="rId2" Type="http://schemas.openxmlformats.org/officeDocument/2006/relationships/hyperlink" Target="https://github.com/abhoy-sinha/ai-object-detectio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508760" y="1975644"/>
            <a:ext cx="9174480" cy="575465"/>
          </a:xfrm>
        </p:spPr>
        <p:txBody>
          <a:bodyPr>
            <a:normAutofit fontScale="90000"/>
          </a:bodyPr>
          <a:lstStyle/>
          <a:p>
            <a:pPr algn="ctr"/>
            <a:r>
              <a:rPr lang="en-US" sz="3200" b="1" dirty="0">
                <a:solidFill>
                  <a:schemeClr val="accent1"/>
                </a:solidFill>
                <a:latin typeface="Arial" panose="020B0604020202020204" pitchFamily="34" charset="0"/>
                <a:cs typeface="Arial" panose="020B0604020202020204" pitchFamily="34" charset="0"/>
              </a:rPr>
              <a:t>Ai object detection</a:t>
            </a:r>
          </a:p>
        </p:txBody>
      </p:sp>
      <p:sp>
        <p:nvSpPr>
          <p:cNvPr id="3" name="TextBox 2"/>
          <p:cNvSpPr txBox="1"/>
          <p:nvPr/>
        </p:nvSpPr>
        <p:spPr>
          <a:xfrm>
            <a:off x="-267324" y="1034320"/>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550436" y="5055284"/>
            <a:ext cx="9992596"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Abhoy Sinha</a:t>
            </a:r>
          </a:p>
          <a:p>
            <a:pPr marL="457200" indent="-457200">
              <a:buAutoNum type="arabicPeriod"/>
            </a:pPr>
            <a:r>
              <a:rPr lang="en-US" sz="2000" b="1" dirty="0">
                <a:solidFill>
                  <a:schemeClr val="accent1">
                    <a:lumMod val="75000"/>
                  </a:schemeClr>
                </a:solidFill>
                <a:latin typeface="Arial"/>
                <a:cs typeface="Arial"/>
              </a:rPr>
              <a:t>College Name- School of Technology , North Eastern Hill University , Shillong</a:t>
            </a:r>
          </a:p>
          <a:p>
            <a:pPr marL="457200" indent="-457200">
              <a:buAutoNum type="arabicPeriod"/>
            </a:pPr>
            <a:r>
              <a:rPr lang="en-US" sz="2000" b="1" dirty="0">
                <a:solidFill>
                  <a:schemeClr val="accent1">
                    <a:lumMod val="75000"/>
                  </a:schemeClr>
                </a:solidFill>
                <a:latin typeface="Arial"/>
                <a:cs typeface="Arial"/>
              </a:rPr>
              <a:t>Department- Energy Engineering</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a:t>
            </a:r>
            <a:r>
              <a:rPr lang="en-US" sz="2000" dirty="0">
                <a:latin typeface="Arial"/>
                <a:ea typeface="+mn-lt"/>
                <a:cs typeface="+mn-lt"/>
              </a:rPr>
              <a:t>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algn="just">
              <a:buFont typeface="Arial" panose="020B0604020202020204" pitchFamily="34" charset="0"/>
              <a:buChar char="•"/>
            </a:pPr>
            <a:r>
              <a:rPr lang="en-US" sz="2400" b="1" dirty="0"/>
              <a:t>In the modern digital era, machines must be able to interpret visual information in real time. However, traditional programs cannot automatically recognize objects from live camera feeds because they rely only on predefined instructions and lack visual intelligence.</a:t>
            </a:r>
          </a:p>
          <a:p>
            <a:pPr algn="just">
              <a:buFont typeface="Arial" panose="020B0604020202020204" pitchFamily="34" charset="0"/>
              <a:buChar char="•"/>
            </a:pPr>
            <a:r>
              <a:rPr lang="en-US" sz="2400" b="1" dirty="0"/>
              <a:t>Therefore, there is a need for an intelligent system capable of detecting and identifying objects automatically from a live video stream. The system should operate in real time, be lightweight, accessible through a web browser, and work across multiple devices without requiring complex installation or specialized hardware.</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23383" y="1425706"/>
            <a:ext cx="11613485" cy="5563973"/>
          </a:xfrm>
        </p:spPr>
        <p:txBody>
          <a:bodyPr vert="horz" lIns="91440" tIns="45720" rIns="91440" bIns="45720" rtlCol="0" anchor="ctr">
            <a:noAutofit/>
          </a:bodyPr>
          <a:lstStyle/>
          <a:p>
            <a:pPr algn="just">
              <a:buFont typeface="Arial" panose="020B0604020202020204" pitchFamily="34" charset="0"/>
              <a:buChar char="•"/>
            </a:pPr>
            <a:r>
              <a:rPr lang="en-US" sz="2400" b="1" dirty="0"/>
              <a:t>The proposed system is a real-time AI-based object detection web application that uses a pre-trained machine learning model to identify objects from a live camera feed.</a:t>
            </a:r>
          </a:p>
          <a:p>
            <a:pPr algn="just">
              <a:buFont typeface="Arial" panose="020B0604020202020204" pitchFamily="34" charset="0"/>
              <a:buChar char="•"/>
            </a:pPr>
            <a:r>
              <a:rPr lang="en-US" sz="2400" b="1" dirty="0"/>
              <a:t>The system captures video through the device camera, processes each frame using a lightweight deep learning model, and detects objects instantly.</a:t>
            </a:r>
          </a:p>
          <a:p>
            <a:pPr algn="just">
              <a:buFont typeface="Arial" panose="020B0604020202020204" pitchFamily="34" charset="0"/>
              <a:buChar char="•"/>
            </a:pPr>
            <a:r>
              <a:rPr lang="en-US" sz="2400" b="1" dirty="0"/>
              <a:t>Detected objects are highlighted with bounding boxes and labeled with confidence scores directly on the screen.</a:t>
            </a:r>
          </a:p>
          <a:p>
            <a:pPr algn="just">
              <a:buFont typeface="Arial" panose="020B0604020202020204" pitchFamily="34" charset="0"/>
              <a:buChar char="•"/>
            </a:pPr>
            <a:r>
              <a:rPr lang="en-US" sz="2400" b="1" dirty="0"/>
              <a:t>The application runs entirely in a web browser, making it platform-independent and accessible without installing additional software.</a:t>
            </a:r>
          </a:p>
          <a:p>
            <a:pPr algn="just">
              <a:buFont typeface="Arial" panose="020B0604020202020204" pitchFamily="34" charset="0"/>
              <a:buChar char="•"/>
            </a:pPr>
            <a:r>
              <a:rPr lang="en-US" sz="2400" b="1" dirty="0"/>
              <a:t>Adjustable controls such as AI toggle and FPS slider allow users to manage performance and detection speed.</a:t>
            </a:r>
          </a:p>
          <a:p>
            <a:pPr>
              <a:buFont typeface="Arial" panose="020B0604020202020204" pitchFamily="34" charset="0"/>
              <a:buChar char="•"/>
            </a:pPr>
            <a:endParaRPr lang="en-IN" sz="1600" b="1"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493288" y="1494620"/>
            <a:ext cx="11205424"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Arial" panose="020B0604020202020204" pitchFamily="34" charset="0"/>
              <a:buChar char="•"/>
            </a:pPr>
            <a:r>
              <a:rPr lang="en-US" sz="2000" dirty="0"/>
              <a:t>The system is developed using web technologies including </a:t>
            </a:r>
            <a:r>
              <a:rPr lang="en-US" sz="2000" b="1" dirty="0"/>
              <a:t>HTML, CSS, and JavaScript</a:t>
            </a:r>
            <a:r>
              <a:rPr lang="en-US" sz="2000" dirty="0"/>
              <a:t> for interface design and functionality.</a:t>
            </a:r>
          </a:p>
          <a:p>
            <a:pPr algn="just">
              <a:buFont typeface="Arial" panose="020B0604020202020204" pitchFamily="34" charset="0"/>
              <a:buChar char="•"/>
            </a:pPr>
            <a:r>
              <a:rPr lang="en-US" sz="2000" dirty="0"/>
              <a:t>The machine learning model is implemented using the </a:t>
            </a:r>
            <a:r>
              <a:rPr lang="en-US" sz="2000" b="1" dirty="0"/>
              <a:t>ML5.js library</a:t>
            </a:r>
            <a:r>
              <a:rPr lang="en-US" sz="2000" dirty="0"/>
              <a:t>, which provides a simplified interface for running deep learning models in the browser.</a:t>
            </a:r>
          </a:p>
          <a:p>
            <a:pPr algn="just">
              <a:buFont typeface="Arial" panose="020B0604020202020204" pitchFamily="34" charset="0"/>
              <a:buChar char="•"/>
            </a:pPr>
            <a:r>
              <a:rPr lang="en-US" sz="2000" dirty="0"/>
              <a:t>A pre-trained </a:t>
            </a:r>
            <a:r>
              <a:rPr lang="en-US" sz="2000" b="1" dirty="0"/>
              <a:t>COCO-SSD object detection model</a:t>
            </a:r>
            <a:r>
              <a:rPr lang="en-US" sz="2000" dirty="0"/>
              <a:t> is used to recognize common objects with high accuracy.</a:t>
            </a:r>
          </a:p>
          <a:p>
            <a:pPr algn="just">
              <a:buFont typeface="Arial" panose="020B0604020202020204" pitchFamily="34" charset="0"/>
              <a:buChar char="•"/>
            </a:pPr>
            <a:r>
              <a:rPr lang="en-US" sz="2000" dirty="0"/>
              <a:t>The application accesses the device camera through the </a:t>
            </a:r>
            <a:r>
              <a:rPr lang="en-US" sz="2000" b="1" dirty="0"/>
              <a:t>WebRTC </a:t>
            </a:r>
            <a:r>
              <a:rPr lang="en-US" sz="2000" b="1" dirty="0" err="1"/>
              <a:t>getUserMedia</a:t>
            </a:r>
            <a:r>
              <a:rPr lang="en-US" sz="2000" b="1" dirty="0"/>
              <a:t> API</a:t>
            </a:r>
            <a:r>
              <a:rPr lang="en-US" sz="2000" dirty="0"/>
              <a:t> to capture real-time video frames.</a:t>
            </a:r>
          </a:p>
          <a:p>
            <a:pPr algn="just">
              <a:buFont typeface="Arial" panose="020B0604020202020204" pitchFamily="34" charset="0"/>
              <a:buChar char="•"/>
            </a:pPr>
            <a:r>
              <a:rPr lang="en-US" sz="2000" dirty="0"/>
              <a:t>Each video frame is processed by the model, and detected objects are displayed with bounding boxes and confidence values on a canvas overlay.</a:t>
            </a:r>
          </a:p>
          <a:p>
            <a:pPr algn="just">
              <a:buFont typeface="Arial" panose="020B0604020202020204" pitchFamily="34" charset="0"/>
              <a:buChar char="•"/>
            </a:pPr>
            <a:r>
              <a:rPr lang="en-US" sz="2000" dirty="0"/>
              <a:t>The system runs entirely on the client side, ensuring fast processing, privacy, and no need for server computation.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1400696"/>
            <a:ext cx="11029616"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sz="2000" b="1" dirty="0"/>
              <a:t>Algorithm Workflow:</a:t>
            </a:r>
            <a:endParaRPr lang="en-US" sz="2000" dirty="0"/>
          </a:p>
          <a:p>
            <a:pPr marL="0" indent="0">
              <a:lnSpc>
                <a:spcPct val="100000"/>
              </a:lnSpc>
              <a:buNone/>
            </a:pPr>
            <a:r>
              <a:rPr lang="en-US" sz="2000" dirty="0"/>
              <a:t>Step 1: Initialize the pre-trained COCO-SSD object detection model.</a:t>
            </a:r>
            <a:br>
              <a:rPr lang="en-US" sz="2000" dirty="0"/>
            </a:br>
            <a:r>
              <a:rPr lang="en-US" sz="2000" dirty="0"/>
              <a:t>Step 2: Request camera access using browser media API.</a:t>
            </a:r>
            <a:br>
              <a:rPr lang="en-US" sz="2000" dirty="0"/>
            </a:br>
            <a:r>
              <a:rPr lang="en-US" sz="2000" dirty="0"/>
              <a:t>Step 3: Capture real-time video frames from the camera.</a:t>
            </a:r>
            <a:br>
              <a:rPr lang="en-US" sz="2000" dirty="0"/>
            </a:br>
            <a:r>
              <a:rPr lang="en-US" sz="2000" dirty="0"/>
              <a:t>Step 4: Pass each frame to the detection model.</a:t>
            </a:r>
            <a:br>
              <a:rPr lang="en-US" sz="2000" dirty="0"/>
            </a:br>
            <a:r>
              <a:rPr lang="en-US" sz="2000" dirty="0"/>
              <a:t>Step 5: Model analyzes image and predicts objects.</a:t>
            </a:r>
            <a:br>
              <a:rPr lang="en-US" sz="2000" dirty="0"/>
            </a:br>
            <a:r>
              <a:rPr lang="en-US" sz="2000" dirty="0"/>
              <a:t>Step 6: Draw bounding boxes and labels with confidence scores.</a:t>
            </a:r>
            <a:br>
              <a:rPr lang="en-US" sz="2000" dirty="0"/>
            </a:br>
            <a:r>
              <a:rPr lang="en-US" sz="2000" dirty="0"/>
              <a:t>Step 7: Repeat continuously for real-time detection.</a:t>
            </a:r>
          </a:p>
          <a:p>
            <a:pPr>
              <a:buFont typeface="Wingdings" panose="05000000000000000000" pitchFamily="2" charset="2"/>
              <a:buChar char="Ø"/>
            </a:pPr>
            <a:r>
              <a:rPr lang="en-US" sz="2000" b="1" dirty="0"/>
              <a:t>Deployment Process:</a:t>
            </a:r>
            <a:endParaRPr lang="en-US" sz="2000" dirty="0"/>
          </a:p>
          <a:p>
            <a:pPr marL="342900" indent="-342900">
              <a:lnSpc>
                <a:spcPct val="100000"/>
              </a:lnSpc>
              <a:spcAft>
                <a:spcPts val="0"/>
              </a:spcAft>
              <a:buFont typeface="+mj-lt"/>
              <a:buAutoNum type="arabicPeriod"/>
            </a:pPr>
            <a:r>
              <a:rPr lang="en-US" sz="2000" dirty="0"/>
              <a:t>The application is hosted using </a:t>
            </a:r>
            <a:r>
              <a:rPr lang="en-US" sz="2000" b="1" dirty="0"/>
              <a:t>GitHub Pages</a:t>
            </a:r>
            <a:r>
              <a:rPr lang="en-US" sz="2000" dirty="0"/>
              <a:t> for free web deployment.</a:t>
            </a:r>
          </a:p>
          <a:p>
            <a:pPr marL="342900" indent="-342900">
              <a:lnSpc>
                <a:spcPct val="100000"/>
              </a:lnSpc>
              <a:spcAft>
                <a:spcPts val="0"/>
              </a:spcAft>
              <a:buFont typeface="+mj-lt"/>
              <a:buAutoNum type="arabicPeriod"/>
            </a:pPr>
            <a:r>
              <a:rPr lang="en-US" sz="2000" dirty="0"/>
              <a:t>All processing runs on the client side, eliminating server dependency.</a:t>
            </a:r>
          </a:p>
          <a:p>
            <a:pPr marL="342900" indent="-342900">
              <a:lnSpc>
                <a:spcPct val="100000"/>
              </a:lnSpc>
              <a:spcAft>
                <a:spcPts val="0"/>
              </a:spcAft>
              <a:buFont typeface="+mj-lt"/>
              <a:buAutoNum type="arabicPeriod"/>
            </a:pPr>
            <a:r>
              <a:rPr lang="en-US" sz="2000" dirty="0"/>
              <a:t>Users can access the system through a browser using the hosted link.</a:t>
            </a:r>
          </a:p>
          <a:p>
            <a:pPr marL="342900" indent="-342900">
              <a:lnSpc>
                <a:spcPct val="100000"/>
              </a:lnSpc>
              <a:spcAft>
                <a:spcPts val="0"/>
              </a:spcAft>
              <a:buFont typeface="+mj-lt"/>
              <a:buAutoNum type="arabicPeriod"/>
            </a:pPr>
            <a:r>
              <a:rPr lang="en-US" sz="2000" dirty="0"/>
              <a:t>The system works across devices including laptops and smartphones.</a:t>
            </a: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3" name="Rectangle 1">
            <a:extLst>
              <a:ext uri="{FF2B5EF4-FFF2-40B4-BE49-F238E27FC236}">
                <a16:creationId xmlns:a16="http://schemas.microsoft.com/office/drawing/2014/main" id="{EACDFCCA-3998-2A0E-AE71-80AFE8A15F7F}"/>
              </a:ext>
            </a:extLst>
          </p:cNvPr>
          <p:cNvSpPr>
            <a:spLocks noGrp="1" noChangeArrowheads="1"/>
          </p:cNvSpPr>
          <p:nvPr>
            <p:ph idx="1"/>
          </p:nvPr>
        </p:nvSpPr>
        <p:spPr bwMode="auto">
          <a:xfrm>
            <a:off x="480608" y="1125912"/>
            <a:ext cx="10839664" cy="188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50000"/>
              </a:lnSpc>
              <a:spcBef>
                <a:spcPct val="0"/>
              </a:spcBef>
              <a:spcAft>
                <a:spcPct val="0"/>
              </a:spcAft>
              <a:buClrTx/>
              <a:buSzTx/>
              <a:buFontTx/>
              <a:buChar char="•"/>
            </a:pPr>
            <a:r>
              <a:rPr lang="en-US" sz="2000" dirty="0"/>
              <a:t> The system successfully detects real-world objects in real time using a live camera feed.</a:t>
            </a:r>
            <a:br>
              <a:rPr lang="en-US" sz="2000" dirty="0"/>
            </a:br>
            <a:r>
              <a:rPr lang="en-US" sz="2000" dirty="0"/>
              <a:t>• Detected objects are highlighted with bounding boxes and confidence scores.</a:t>
            </a:r>
            <a:br>
              <a:rPr lang="en-US" sz="2000" dirty="0"/>
            </a:br>
            <a:r>
              <a:rPr lang="en-US" sz="2000" dirty="0"/>
              <a:t>• The model accurately identifies common objects such as mouse, scissors, cup, and person.</a:t>
            </a:r>
            <a:br>
              <a:rPr lang="en-US" sz="2000" dirty="0"/>
            </a:br>
            <a:r>
              <a:rPr lang="en-US" sz="2000" dirty="0"/>
              <a:t>• The application runs smoothly in a browser across different devices.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7" name="Picture 6" descr="A screenshot of a cellphone&#10;&#10;AI-generated content may be incorrect.">
            <a:extLst>
              <a:ext uri="{FF2B5EF4-FFF2-40B4-BE49-F238E27FC236}">
                <a16:creationId xmlns:a16="http://schemas.microsoft.com/office/drawing/2014/main" id="{C327F2E0-4F21-4740-D4DC-88BBACB8A739}"/>
              </a:ext>
            </a:extLst>
          </p:cNvPr>
          <p:cNvPicPr>
            <a:picLocks noChangeAspect="1"/>
          </p:cNvPicPr>
          <p:nvPr/>
        </p:nvPicPr>
        <p:blipFill>
          <a:blip r:embed="rId2"/>
          <a:stretch>
            <a:fillRect/>
          </a:stretch>
        </p:blipFill>
        <p:spPr>
          <a:xfrm>
            <a:off x="4570081" y="3008350"/>
            <a:ext cx="3490752" cy="3626473"/>
          </a:xfrm>
          <a:prstGeom prst="rect">
            <a:avLst/>
          </a:prstGeom>
        </p:spPr>
      </p:pic>
      <p:pic>
        <p:nvPicPr>
          <p:cNvPr id="4" name="Picture 3" descr="A computer mouse with a wire&#10;&#10;AI-generated content may be incorrect.">
            <a:extLst>
              <a:ext uri="{FF2B5EF4-FFF2-40B4-BE49-F238E27FC236}">
                <a16:creationId xmlns:a16="http://schemas.microsoft.com/office/drawing/2014/main" id="{1AD6EF96-B2AA-8091-A4C2-D1A3C3EFD4D1}"/>
              </a:ext>
            </a:extLst>
          </p:cNvPr>
          <p:cNvPicPr>
            <a:picLocks noChangeAspect="1"/>
          </p:cNvPicPr>
          <p:nvPr/>
        </p:nvPicPr>
        <p:blipFill>
          <a:blip r:embed="rId3"/>
          <a:stretch>
            <a:fillRect/>
          </a:stretch>
        </p:blipFill>
        <p:spPr>
          <a:xfrm>
            <a:off x="8577820" y="2666764"/>
            <a:ext cx="3409918" cy="3626473"/>
          </a:xfrm>
          <a:prstGeom prst="rect">
            <a:avLst/>
          </a:prstGeom>
        </p:spPr>
      </p:pic>
      <p:pic>
        <p:nvPicPr>
          <p:cNvPr id="9" name="Picture 8" descr="A white mug with a red square on it">
            <a:extLst>
              <a:ext uri="{FF2B5EF4-FFF2-40B4-BE49-F238E27FC236}">
                <a16:creationId xmlns:a16="http://schemas.microsoft.com/office/drawing/2014/main" id="{EED10089-CFD0-44AC-1684-06D31CCC46E5}"/>
              </a:ext>
            </a:extLst>
          </p:cNvPr>
          <p:cNvPicPr>
            <a:picLocks noChangeAspect="1"/>
          </p:cNvPicPr>
          <p:nvPr/>
        </p:nvPicPr>
        <p:blipFill>
          <a:blip r:embed="rId4"/>
          <a:stretch>
            <a:fillRect/>
          </a:stretch>
        </p:blipFill>
        <p:spPr>
          <a:xfrm>
            <a:off x="900327" y="3008349"/>
            <a:ext cx="3250036" cy="3626474"/>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3" y="1232452"/>
            <a:ext cx="11029615" cy="4201414"/>
          </a:xfrm>
        </p:spPr>
        <p:txBody>
          <a:bodyPr>
            <a:normAutofit/>
          </a:bodyPr>
          <a:lstStyle/>
          <a:p>
            <a:pPr algn="just">
              <a:lnSpc>
                <a:spcPct val="100000"/>
              </a:lnSpc>
              <a:buFont typeface="Arial" panose="020B0604020202020204" pitchFamily="34" charset="0"/>
              <a:buChar char="•"/>
            </a:pPr>
            <a:r>
              <a:rPr lang="en-US" sz="2400" b="1" dirty="0"/>
              <a:t>The developed AI object detection system successfully demonstrates real-time object recognition using a browser-based machine learning model.</a:t>
            </a:r>
          </a:p>
          <a:p>
            <a:pPr algn="just">
              <a:lnSpc>
                <a:spcPct val="100000"/>
              </a:lnSpc>
              <a:buFont typeface="Arial" panose="020B0604020202020204" pitchFamily="34" charset="0"/>
              <a:buChar char="•"/>
            </a:pPr>
            <a:r>
              <a:rPr lang="en-US" sz="2400" b="1" dirty="0"/>
              <a:t>The application is lightweight, efficient, and accessible across multiple devices without installation.</a:t>
            </a:r>
          </a:p>
          <a:p>
            <a:pPr algn="just">
              <a:lnSpc>
                <a:spcPct val="100000"/>
              </a:lnSpc>
              <a:buFont typeface="Arial" panose="020B0604020202020204" pitchFamily="34" charset="0"/>
              <a:buChar char="•"/>
            </a:pPr>
            <a:r>
              <a:rPr lang="en-US" sz="2400" b="1" dirty="0"/>
              <a:t>The system proves that modern web technologies combined with pre-trained AI models can create intelligent, real-time vision applications.</a:t>
            </a:r>
          </a:p>
          <a:p>
            <a:pPr algn="just">
              <a:lnSpc>
                <a:spcPct val="100000"/>
              </a:lnSpc>
              <a:buFont typeface="Arial" panose="020B0604020202020204" pitchFamily="34" charset="0"/>
              <a:buChar char="•"/>
            </a:pPr>
            <a:r>
              <a:rPr lang="en-US" sz="2400" b="1" dirty="0"/>
              <a:t>This project highlights the practical implementation of artificial intelligence in real-world scenarios.</a:t>
            </a:r>
            <a:endParaRPr lang="en-IN" sz="2400" b="1"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533400" y="1561852"/>
            <a:ext cx="1112293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spcBef>
                <a:spcPct val="0"/>
              </a:spcBef>
              <a:spcAft>
                <a:spcPct val="0"/>
              </a:spcAft>
              <a:buClr>
                <a:schemeClr val="accent1"/>
              </a:buClr>
              <a:buFont typeface="Arial" panose="020B0604020202020204" pitchFamily="34" charset="0"/>
              <a:buChar char="•"/>
            </a:pPr>
            <a:r>
              <a:rPr lang="en-US" sz="2400" b="1" dirty="0"/>
              <a:t>Integrate custom-trained models for specialized object detection.</a:t>
            </a:r>
          </a:p>
          <a:p>
            <a:pPr marL="285750" indent="-285750" algn="just" eaLnBrk="0" fontAlgn="base" hangingPunct="0">
              <a:spcBef>
                <a:spcPct val="0"/>
              </a:spcBef>
              <a:spcAft>
                <a:spcPct val="0"/>
              </a:spcAft>
              <a:buClr>
                <a:schemeClr val="accent1"/>
              </a:buClr>
              <a:buFont typeface="Arial" panose="020B0604020202020204" pitchFamily="34" charset="0"/>
              <a:buChar char="•"/>
            </a:pPr>
            <a:r>
              <a:rPr lang="en-US" sz="2400" b="1" dirty="0"/>
              <a:t>Add voice alerts for detected objects to assist visually impaired users.</a:t>
            </a:r>
          </a:p>
          <a:p>
            <a:pPr marL="285750" indent="-285750" algn="just" eaLnBrk="0" fontAlgn="base" hangingPunct="0">
              <a:spcBef>
                <a:spcPct val="0"/>
              </a:spcBef>
              <a:spcAft>
                <a:spcPct val="0"/>
              </a:spcAft>
              <a:buClr>
                <a:schemeClr val="accent1"/>
              </a:buClr>
              <a:buFont typeface="Arial" panose="020B0604020202020204" pitchFamily="34" charset="0"/>
              <a:buChar char="•"/>
            </a:pPr>
            <a:r>
              <a:rPr lang="en-US" sz="2400" b="1" dirty="0"/>
              <a:t>Implement object counting and tracking features.</a:t>
            </a:r>
          </a:p>
          <a:p>
            <a:pPr marL="285750" indent="-285750" algn="just" eaLnBrk="0" fontAlgn="base" hangingPunct="0">
              <a:spcBef>
                <a:spcPct val="0"/>
              </a:spcBef>
              <a:spcAft>
                <a:spcPct val="0"/>
              </a:spcAft>
              <a:buClr>
                <a:schemeClr val="accent1"/>
              </a:buClr>
              <a:buFont typeface="Arial" panose="020B0604020202020204" pitchFamily="34" charset="0"/>
              <a:buChar char="•"/>
            </a:pPr>
            <a:r>
              <a:rPr lang="en-US" sz="2400" b="1" dirty="0"/>
              <a:t>Enhance accuracy using advanced deep learning models.</a:t>
            </a:r>
          </a:p>
          <a:p>
            <a:pPr marL="285750" indent="-285750" algn="just" eaLnBrk="0" fontAlgn="base" hangingPunct="0">
              <a:spcBef>
                <a:spcPct val="0"/>
              </a:spcBef>
              <a:spcAft>
                <a:spcPct val="0"/>
              </a:spcAft>
              <a:buClr>
                <a:schemeClr val="accent1"/>
              </a:buClr>
              <a:buFont typeface="Arial" panose="020B0604020202020204" pitchFamily="34" charset="0"/>
              <a:buChar char="•"/>
            </a:pPr>
            <a:r>
              <a:rPr lang="en-US" sz="2400" b="1" dirty="0"/>
              <a:t>Extend the system for applications such as surveillance, smart monitoring, and automation.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3" name="TextBox 2">
            <a:extLst>
              <a:ext uri="{FF2B5EF4-FFF2-40B4-BE49-F238E27FC236}">
                <a16:creationId xmlns:a16="http://schemas.microsoft.com/office/drawing/2014/main" id="{A39C82B0-CBA2-0FD2-0400-979E31AC4978}"/>
              </a:ext>
            </a:extLst>
          </p:cNvPr>
          <p:cNvSpPr txBox="1"/>
          <p:nvPr/>
        </p:nvSpPr>
        <p:spPr>
          <a:xfrm>
            <a:off x="516806" y="1385145"/>
            <a:ext cx="9788482" cy="2534540"/>
          </a:xfrm>
          <a:prstGeom prst="rect">
            <a:avLst/>
          </a:prstGeom>
          <a:noFill/>
        </p:spPr>
        <p:txBody>
          <a:bodyPr wrap="square">
            <a:spAutoFit/>
          </a:bodyPr>
          <a:lstStyle/>
          <a:p>
            <a:pPr>
              <a:lnSpc>
                <a:spcPct val="150000"/>
              </a:lnSpc>
            </a:pPr>
            <a:r>
              <a:rPr lang="en-IN" dirty="0"/>
              <a:t>• ML5.js Documentation — </a:t>
            </a:r>
            <a:r>
              <a:rPr lang="en-IN" dirty="0">
                <a:hlinkClick r:id="rId2"/>
              </a:rPr>
              <a:t>https://ml5js.org</a:t>
            </a:r>
            <a:br>
              <a:rPr lang="en-IN" dirty="0"/>
            </a:br>
            <a:r>
              <a:rPr lang="en-IN" dirty="0"/>
              <a:t>• TensorFlow Object Detection Model — </a:t>
            </a:r>
            <a:r>
              <a:rPr lang="en-IN" dirty="0">
                <a:hlinkClick r:id="rId3"/>
              </a:rPr>
              <a:t>https://tensorflow.org</a:t>
            </a:r>
            <a:br>
              <a:rPr lang="en-IN" dirty="0"/>
            </a:br>
            <a:r>
              <a:rPr lang="en-IN" dirty="0"/>
              <a:t>• COCO Dataset Research Paper — Lin et al., Microsoft Research</a:t>
            </a:r>
            <a:br>
              <a:rPr lang="en-IN" dirty="0"/>
            </a:br>
            <a:r>
              <a:rPr lang="en-IN" dirty="0"/>
              <a:t>• Mozilla Web API Documentation — </a:t>
            </a:r>
            <a:r>
              <a:rPr lang="en-IN" dirty="0">
                <a:hlinkClick r:id="rId4"/>
              </a:rPr>
              <a:t>https://developer.mozilla.org</a:t>
            </a:r>
            <a:br>
              <a:rPr lang="en-IN" dirty="0"/>
            </a:br>
            <a:r>
              <a:rPr lang="en-IN" dirty="0"/>
              <a:t>• GitHub Pages Documentation — </a:t>
            </a:r>
            <a:r>
              <a:rPr lang="en-IN" dirty="0">
                <a:hlinkClick r:id="rId5"/>
              </a:rPr>
              <a:t>https://docs.github.com</a:t>
            </a:r>
            <a:endParaRPr lang="en-IN" dirty="0"/>
          </a:p>
          <a:p>
            <a:pPr>
              <a:lnSpc>
                <a:spcPct val="150000"/>
              </a:lnSpc>
            </a:pPr>
            <a:r>
              <a:rPr lang="en-US" dirty="0">
                <a:hlinkClick r:id="rId6"/>
              </a:rPr>
              <a:t>.</a:t>
            </a:r>
            <a:endParaRPr lang="en-IN"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a:xfrm>
            <a:off x="581191" y="1759226"/>
            <a:ext cx="11029615" cy="1066270"/>
          </a:xfrm>
        </p:spPr>
        <p:txBody>
          <a:bodyPr/>
          <a:lstStyle/>
          <a:p>
            <a:pPr marL="0" indent="0">
              <a:buNone/>
            </a:pPr>
            <a:r>
              <a:rPr lang="en-IN" dirty="0" err="1"/>
              <a:t>Github</a:t>
            </a:r>
            <a:r>
              <a:rPr lang="en-IN" dirty="0"/>
              <a:t> Link : </a:t>
            </a:r>
            <a:r>
              <a:rPr lang="en-IN" dirty="0">
                <a:hlinkClick r:id="rId2"/>
              </a:rPr>
              <a:t>https://github.com/abhoy-sinha/ai-object-detection</a:t>
            </a:r>
            <a:endParaRPr lang="en-IN" dirty="0"/>
          </a:p>
          <a:p>
            <a:pPr marL="0" indent="0">
              <a:buNone/>
            </a:pPr>
            <a:r>
              <a:rPr lang="en-IN" dirty="0"/>
              <a:t>Deployment Link: </a:t>
            </a:r>
            <a:r>
              <a:rPr lang="en-IN" dirty="0">
                <a:hlinkClick r:id="rId3"/>
              </a:rPr>
              <a:t>https://abhoy-sinha.github.io/ai-object-detection/</a:t>
            </a:r>
            <a:endParaRPr lang="en-IN" dirty="0"/>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73151" y="758952"/>
            <a:ext cx="3702617" cy="562197"/>
          </a:xfrm>
        </p:spPr>
        <p:txBody>
          <a:bodyPr/>
          <a:lstStyle/>
          <a:p>
            <a:pPr algn="ctr"/>
            <a:r>
              <a:rPr lang="en-US" b="1" dirty="0">
                <a:solidFill>
                  <a:srgbClr val="002060"/>
                </a:solidFill>
                <a:latin typeface="Arial" panose="020B0604020202020204" pitchFamily="34" charset="0"/>
                <a:cs typeface="Arial" panose="020B0604020202020204" pitchFamily="34" charset="0"/>
              </a:rPr>
              <a:t>certificates</a:t>
            </a:r>
          </a:p>
        </p:txBody>
      </p:sp>
      <p:pic>
        <p:nvPicPr>
          <p:cNvPr id="6" name="Picture 5" descr="A certificate with a yellow medal&#10;&#10;AI-generated content may be incorrect.">
            <a:extLst>
              <a:ext uri="{FF2B5EF4-FFF2-40B4-BE49-F238E27FC236}">
                <a16:creationId xmlns:a16="http://schemas.microsoft.com/office/drawing/2014/main" id="{1321422D-34A0-D20A-7E48-438A1A90AB23}"/>
              </a:ext>
            </a:extLst>
          </p:cNvPr>
          <p:cNvPicPr>
            <a:picLocks noChangeAspect="1"/>
          </p:cNvPicPr>
          <p:nvPr/>
        </p:nvPicPr>
        <p:blipFill>
          <a:blip r:embed="rId2"/>
          <a:stretch>
            <a:fillRect/>
          </a:stretch>
        </p:blipFill>
        <p:spPr>
          <a:xfrm>
            <a:off x="766246" y="1355102"/>
            <a:ext cx="5398884" cy="5108759"/>
          </a:xfrm>
          <a:prstGeom prst="rect">
            <a:avLst/>
          </a:prstGeom>
        </p:spPr>
      </p:pic>
      <p:pic>
        <p:nvPicPr>
          <p:cNvPr id="8" name="Picture 7" descr="A blue and white card with a red and black text&#10;&#10;AI-generated content may be incorrect.">
            <a:extLst>
              <a:ext uri="{FF2B5EF4-FFF2-40B4-BE49-F238E27FC236}">
                <a16:creationId xmlns:a16="http://schemas.microsoft.com/office/drawing/2014/main" id="{BD321B37-2A37-9353-032A-7C6331BA2F4F}"/>
              </a:ext>
            </a:extLst>
          </p:cNvPr>
          <p:cNvPicPr>
            <a:picLocks noChangeAspect="1"/>
          </p:cNvPicPr>
          <p:nvPr/>
        </p:nvPicPr>
        <p:blipFill>
          <a:blip r:embed="rId3"/>
          <a:stretch>
            <a:fillRect/>
          </a:stretch>
        </p:blipFill>
        <p:spPr>
          <a:xfrm>
            <a:off x="6096000" y="1545021"/>
            <a:ext cx="5738648" cy="3957877"/>
          </a:xfrm>
          <a:prstGeom prst="rect">
            <a:avLst/>
          </a:prstGeom>
        </p:spPr>
      </p:pic>
    </p:spTree>
    <p:extLst>
      <p:ext uri="{BB962C8B-B14F-4D97-AF65-F5344CB8AC3E}">
        <p14:creationId xmlns:p14="http://schemas.microsoft.com/office/powerpoint/2010/main" val="4066255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D58C7-1091-1D84-C904-C17DAEE52B8A}"/>
              </a:ext>
            </a:extLst>
          </p:cNvPr>
          <p:cNvSpPr>
            <a:spLocks noGrp="1"/>
          </p:cNvSpPr>
          <p:nvPr>
            <p:ph type="title"/>
          </p:nvPr>
        </p:nvSpPr>
        <p:spPr>
          <a:xfrm>
            <a:off x="396785" y="2992091"/>
            <a:ext cx="11029616" cy="592246"/>
          </a:xfrm>
        </p:spPr>
        <p:txBody>
          <a:bodyPr>
            <a:noAutofit/>
          </a:bodyPr>
          <a:lstStyle/>
          <a:p>
            <a:pPr algn="ctr"/>
            <a:r>
              <a:rPr lang="en-US" sz="4000" dirty="0">
                <a:solidFill>
                  <a:schemeClr val="accent1"/>
                </a:solidFill>
              </a:rPr>
              <a:t>THANK YOU</a:t>
            </a:r>
            <a:endParaRPr lang="en-IN" sz="4000" dirty="0">
              <a:solidFill>
                <a:schemeClr val="accent1"/>
              </a:solidFill>
            </a:endParaRPr>
          </a:p>
        </p:txBody>
      </p:sp>
    </p:spTree>
    <p:extLst>
      <p:ext uri="{BB962C8B-B14F-4D97-AF65-F5344CB8AC3E}">
        <p14:creationId xmlns:p14="http://schemas.microsoft.com/office/powerpoint/2010/main" val="1590229466"/>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1098</TotalTime>
  <Words>792</Words>
  <Application>Microsoft Office PowerPoint</Application>
  <PresentationFormat>Widescreen</PresentationFormat>
  <Paragraphs>61</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Franklin Gothic Book</vt:lpstr>
      <vt:lpstr>Franklin Gothic Demi</vt:lpstr>
      <vt:lpstr>Wingdings</vt:lpstr>
      <vt:lpstr>Wingdings 2</vt:lpstr>
      <vt:lpstr>DividendVTI</vt:lpstr>
      <vt:lpstr>Ai object detection</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certificates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Abhoy Sinha</cp:lastModifiedBy>
  <cp:revision>38</cp:revision>
  <dcterms:created xsi:type="dcterms:W3CDTF">2021-05-26T16:50:10Z</dcterms:created>
  <dcterms:modified xsi:type="dcterms:W3CDTF">2026-02-22T06:36:42Z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